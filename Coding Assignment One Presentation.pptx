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8" r:id="rId6"/>
    <p:sldId id="260" r:id="rId7"/>
    <p:sldId id="261" r:id="rId8"/>
    <p:sldId id="262" r:id="rId9"/>
    <p:sldId id="263" r:id="rId10"/>
    <p:sldId id="264" r:id="rId11"/>
    <p:sldId id="265" r:id="rId12"/>
    <p:sldId id="266" r:id="rId13"/>
    <p:sldId id="267"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5547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A237E"/>
          </a:solidFill>
          <a:ln/>
        </p:spPr>
      </p:sp>
      <p:sp>
        <p:nvSpPr>
          <p:cNvPr id="4" name="Text 2"/>
          <p:cNvSpPr/>
          <p:nvPr/>
        </p:nvSpPr>
        <p:spPr>
          <a:xfrm>
            <a:off x="457200" y="1463040"/>
            <a:ext cx="8229600" cy="320040"/>
          </a:xfrm>
          <a:prstGeom prst="rect">
            <a:avLst/>
          </a:prstGeom>
          <a:noFill/>
          <a:ln/>
        </p:spPr>
        <p:txBody>
          <a:bodyPr wrap="square" rtlCol="0" anchor="ctr"/>
          <a:lstStyle/>
          <a:p>
            <a:pPr marL="0" indent="0" algn="ctr">
              <a:buNone/>
            </a:pPr>
            <a:r>
              <a:rPr lang="en-US" sz="1400" dirty="0">
                <a:solidFill>
                  <a:srgbClr val="0D47A1"/>
                </a:solidFill>
                <a:latin typeface="Times New Roman" pitchFamily="34" charset="0"/>
                <a:ea typeface="Times New Roman" pitchFamily="34" charset="-122"/>
                <a:cs typeface="Times New Roman" pitchFamily="34" charset="-120"/>
              </a:rPr>
              <a:t>Department of Computer Science</a:t>
            </a:r>
            <a:endParaRPr lang="en-US" sz="1400" dirty="0"/>
          </a:p>
        </p:txBody>
      </p:sp>
      <p:sp>
        <p:nvSpPr>
          <p:cNvPr id="5" name="Text 3"/>
          <p:cNvSpPr/>
          <p:nvPr/>
        </p:nvSpPr>
        <p:spPr>
          <a:xfrm>
            <a:off x="457200" y="1920240"/>
            <a:ext cx="8229600" cy="365760"/>
          </a:xfrm>
          <a:prstGeom prst="rect">
            <a:avLst/>
          </a:prstGeom>
          <a:noFill/>
          <a:ln/>
        </p:spPr>
        <p:txBody>
          <a:bodyPr wrap="square" rtlCol="0" anchor="ctr"/>
          <a:lstStyle/>
          <a:p>
            <a:pPr marL="0" indent="0" algn="ctr">
              <a:buNone/>
            </a:pPr>
            <a:r>
              <a:rPr lang="en-US" sz="1800" b="1" dirty="0">
                <a:solidFill>
                  <a:srgbClr val="212121"/>
                </a:solidFill>
                <a:latin typeface="Times New Roman" pitchFamily="34" charset="0"/>
                <a:ea typeface="Times New Roman" pitchFamily="34" charset="-122"/>
                <a:cs typeface="Times New Roman" pitchFamily="34" charset="-120"/>
              </a:rPr>
              <a:t>Modeling and Simulation</a:t>
            </a:r>
            <a:endParaRPr lang="en-US" sz="1800" dirty="0"/>
          </a:p>
        </p:txBody>
      </p:sp>
      <p:sp>
        <p:nvSpPr>
          <p:cNvPr id="7" name="Text 5"/>
          <p:cNvSpPr/>
          <p:nvPr/>
        </p:nvSpPr>
        <p:spPr>
          <a:xfrm>
            <a:off x="457200" y="2217421"/>
            <a:ext cx="8229600" cy="640080"/>
          </a:xfrm>
          <a:prstGeom prst="rect">
            <a:avLst/>
          </a:prstGeom>
          <a:noFill/>
          <a:ln/>
        </p:spPr>
        <p:txBody>
          <a:bodyPr wrap="square" rtlCol="0" anchor="ctr"/>
          <a:lstStyle/>
          <a:p>
            <a:pPr marL="0" indent="0" algn="ctr">
              <a:lnSpc>
                <a:spcPct val="150000"/>
              </a:lnSpc>
              <a:buNone/>
            </a:pPr>
            <a:r>
              <a:rPr lang="en-US" sz="1400" dirty="0">
                <a:solidFill>
                  <a:srgbClr val="212121"/>
                </a:solidFill>
                <a:latin typeface="Times New Roman" pitchFamily="34" charset="0"/>
                <a:ea typeface="Times New Roman" pitchFamily="34" charset="-122"/>
                <a:cs typeface="Times New Roman" pitchFamily="34" charset="-120"/>
              </a:rPr>
              <a:t>Analysis of Discrete-Time Mortgage Simulation,</a:t>
            </a:r>
            <a:endParaRPr lang="en-US" sz="1400" dirty="0"/>
          </a:p>
          <a:p>
            <a:pPr marL="0" indent="0" algn="ctr">
              <a:lnSpc>
                <a:spcPct val="150000"/>
              </a:lnSpc>
              <a:buNone/>
            </a:pPr>
            <a:r>
              <a:rPr lang="en-US" sz="1400" dirty="0">
                <a:solidFill>
                  <a:srgbClr val="212121"/>
                </a:solidFill>
                <a:latin typeface="Times New Roman" pitchFamily="34" charset="0"/>
                <a:ea typeface="Times New Roman" pitchFamily="34" charset="-122"/>
                <a:cs typeface="Times New Roman" pitchFamily="34" charset="-120"/>
              </a:rPr>
              <a:t>Monte Carlo Estimation of Pi, and Single-Server Queue Model</a:t>
            </a:r>
            <a:endParaRPr lang="en-US" sz="1400" dirty="0"/>
          </a:p>
        </p:txBody>
      </p:sp>
      <p:pic>
        <p:nvPicPr>
          <p:cNvPr id="9" name="Picture 8">
            <a:extLst>
              <a:ext uri="{FF2B5EF4-FFF2-40B4-BE49-F238E27FC236}">
                <a16:creationId xmlns:a16="http://schemas.microsoft.com/office/drawing/2014/main" id="{73DB2DF0-E8A9-49A3-76FF-C88CFE8502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132398"/>
            <a:ext cx="5943600" cy="1176655"/>
          </a:xfrm>
          <a:prstGeom prst="rect">
            <a:avLst/>
          </a:prstGeom>
        </p:spPr>
      </p:pic>
      <p:graphicFrame>
        <p:nvGraphicFramePr>
          <p:cNvPr id="10" name="Table 9">
            <a:extLst>
              <a:ext uri="{FF2B5EF4-FFF2-40B4-BE49-F238E27FC236}">
                <a16:creationId xmlns:a16="http://schemas.microsoft.com/office/drawing/2014/main" id="{6C7E044B-9638-E7C9-2A3F-106E9E82258F}"/>
              </a:ext>
            </a:extLst>
          </p:cNvPr>
          <p:cNvGraphicFramePr>
            <a:graphicFrameLocks noGrp="1"/>
          </p:cNvGraphicFramePr>
          <p:nvPr>
            <p:extLst>
              <p:ext uri="{D42A27DB-BD31-4B8C-83A1-F6EECF244321}">
                <p14:modId xmlns:p14="http://schemas.microsoft.com/office/powerpoint/2010/main" val="2916322980"/>
              </p:ext>
            </p:extLst>
          </p:nvPr>
        </p:nvGraphicFramePr>
        <p:xfrm>
          <a:off x="1889760" y="2956560"/>
          <a:ext cx="6149341" cy="2133600"/>
        </p:xfrm>
        <a:graphic>
          <a:graphicData uri="http://schemas.openxmlformats.org/drawingml/2006/table">
            <a:tbl>
              <a:tblPr firstRow="1" firstCol="1" bandRow="1">
                <a:tableStyleId>{3C2FFA5D-87B4-456A-9821-1D502468CF0F}</a:tableStyleId>
              </a:tblPr>
              <a:tblGrid>
                <a:gridCol w="845464">
                  <a:extLst>
                    <a:ext uri="{9D8B030D-6E8A-4147-A177-3AD203B41FA5}">
                      <a16:colId xmlns:a16="http://schemas.microsoft.com/office/drawing/2014/main" val="1794155873"/>
                    </a:ext>
                  </a:extLst>
                </a:gridCol>
                <a:gridCol w="2818213">
                  <a:extLst>
                    <a:ext uri="{9D8B030D-6E8A-4147-A177-3AD203B41FA5}">
                      <a16:colId xmlns:a16="http://schemas.microsoft.com/office/drawing/2014/main" val="3530291542"/>
                    </a:ext>
                  </a:extLst>
                </a:gridCol>
                <a:gridCol w="2485664">
                  <a:extLst>
                    <a:ext uri="{9D8B030D-6E8A-4147-A177-3AD203B41FA5}">
                      <a16:colId xmlns:a16="http://schemas.microsoft.com/office/drawing/2014/main" val="3995360512"/>
                    </a:ext>
                  </a:extLst>
                </a:gridCol>
              </a:tblGrid>
              <a:tr h="533400">
                <a:tc>
                  <a:txBody>
                    <a:bodyPr/>
                    <a:lstStyle/>
                    <a:p>
                      <a:pPr algn="ctr">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No.</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ctr">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Name</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ctr">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Registration Number</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extLst>
                  <a:ext uri="{0D108BD9-81ED-4DB2-BD59-A6C34878D82A}">
                    <a16:rowId xmlns:a16="http://schemas.microsoft.com/office/drawing/2014/main" val="680963064"/>
                  </a:ext>
                </a:extLst>
              </a:tr>
              <a:tr h="533400">
                <a:tc>
                  <a:txBody>
                    <a:bodyPr/>
                    <a:lstStyle/>
                    <a:p>
                      <a:pPr algn="ctr">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1.</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just">
                        <a:lnSpc>
                          <a:spcPct val="150000"/>
                        </a:lnSpc>
                        <a:spcAft>
                          <a:spcPts val="600"/>
                        </a:spcAft>
                        <a:buNone/>
                      </a:pPr>
                      <a:r>
                        <a:rPr lang="en-UG" sz="1600" b="1" dirty="0">
                          <a:effectLst/>
                          <a:latin typeface="Times New Roman" panose="02020603050405020304" pitchFamily="18" charset="0"/>
                          <a:cs typeface="Times New Roman" panose="02020603050405020304" pitchFamily="18" charset="0"/>
                        </a:rPr>
                        <a:t>AINEBYONA ALLAN</a:t>
                      </a:r>
                      <a:endParaRPr lang="en-UG" sz="16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just">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2024/A/KCS/1670/F</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extLst>
                  <a:ext uri="{0D108BD9-81ED-4DB2-BD59-A6C34878D82A}">
                    <a16:rowId xmlns:a16="http://schemas.microsoft.com/office/drawing/2014/main" val="1908853486"/>
                  </a:ext>
                </a:extLst>
              </a:tr>
              <a:tr h="533400">
                <a:tc>
                  <a:txBody>
                    <a:bodyPr/>
                    <a:lstStyle/>
                    <a:p>
                      <a:pPr algn="ctr">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2.</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just">
                        <a:lnSpc>
                          <a:spcPct val="150000"/>
                        </a:lnSpc>
                        <a:spcAft>
                          <a:spcPts val="600"/>
                        </a:spcAft>
                        <a:buNone/>
                      </a:pPr>
                      <a:r>
                        <a:rPr lang="en-UG" sz="1600" b="1" dirty="0">
                          <a:effectLst/>
                          <a:latin typeface="Times New Roman" panose="02020603050405020304" pitchFamily="18" charset="0"/>
                          <a:cs typeface="Times New Roman" panose="02020603050405020304" pitchFamily="18" charset="0"/>
                        </a:rPr>
                        <a:t>ARINDA ELIZABETH</a:t>
                      </a:r>
                      <a:endParaRPr lang="en-UG" sz="16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just">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2024/A/KCS/3099/G/F</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extLst>
                  <a:ext uri="{0D108BD9-81ED-4DB2-BD59-A6C34878D82A}">
                    <a16:rowId xmlns:a16="http://schemas.microsoft.com/office/drawing/2014/main" val="660636675"/>
                  </a:ext>
                </a:extLst>
              </a:tr>
              <a:tr h="533400">
                <a:tc>
                  <a:txBody>
                    <a:bodyPr/>
                    <a:lstStyle/>
                    <a:p>
                      <a:pPr algn="ctr">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3.</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just">
                        <a:lnSpc>
                          <a:spcPct val="150000"/>
                        </a:lnSpc>
                        <a:spcAft>
                          <a:spcPts val="600"/>
                        </a:spcAft>
                        <a:buNone/>
                      </a:pPr>
                      <a:r>
                        <a:rPr lang="en-UG" sz="1600" b="1">
                          <a:effectLst/>
                          <a:latin typeface="Times New Roman" panose="02020603050405020304" pitchFamily="18" charset="0"/>
                          <a:cs typeface="Times New Roman" panose="02020603050405020304" pitchFamily="18" charset="0"/>
                        </a:rPr>
                        <a:t>GUMISIRIZA AMBROSE</a:t>
                      </a:r>
                      <a:endParaRPr lang="en-UG" sz="1600" b="1">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tc>
                  <a:txBody>
                    <a:bodyPr/>
                    <a:lstStyle/>
                    <a:p>
                      <a:pPr algn="just">
                        <a:lnSpc>
                          <a:spcPct val="150000"/>
                        </a:lnSpc>
                        <a:spcAft>
                          <a:spcPts val="600"/>
                        </a:spcAft>
                        <a:buNone/>
                      </a:pPr>
                      <a:r>
                        <a:rPr lang="en-UG" sz="1600" b="1" dirty="0">
                          <a:effectLst/>
                          <a:latin typeface="Times New Roman" panose="02020603050405020304" pitchFamily="18" charset="0"/>
                          <a:cs typeface="Times New Roman" panose="02020603050405020304" pitchFamily="18" charset="0"/>
                        </a:rPr>
                        <a:t>2024/A/KCS/3143/F</a:t>
                      </a:r>
                      <a:endParaRPr lang="en-UG" sz="1600" b="1"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350" marR="6350" marT="0" marB="0"/>
                </a:tc>
                <a:extLst>
                  <a:ext uri="{0D108BD9-81ED-4DB2-BD59-A6C34878D82A}">
                    <a16:rowId xmlns:a16="http://schemas.microsoft.com/office/drawing/2014/main" val="344898263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lnSpc>
                <a:spcPct val="150000"/>
              </a:lnSpc>
              <a:buNone/>
            </a:pPr>
            <a:r>
              <a:rPr lang="en-US" sz="1600" b="1" dirty="0">
                <a:solidFill>
                  <a:srgbClr val="FFFFFF"/>
                </a:solidFill>
                <a:latin typeface="Times New Roman" pitchFamily="34" charset="0"/>
                <a:ea typeface="Times New Roman" pitchFamily="34" charset="-122"/>
                <a:cs typeface="Times New Roman" pitchFamily="34" charset="-120"/>
              </a:rPr>
              <a:t>1. Overview of the Three Simulation Models</a:t>
            </a:r>
            <a:endParaRPr lang="en-US" sz="1600" dirty="0"/>
          </a:p>
        </p:txBody>
      </p:sp>
      <p:sp>
        <p:nvSpPr>
          <p:cNvPr id="4" name="Text 2"/>
          <p:cNvSpPr/>
          <p:nvPr/>
        </p:nvSpPr>
        <p:spPr>
          <a:xfrm>
            <a:off x="274320" y="632460"/>
            <a:ext cx="8229600" cy="32004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This assignment requires analysis of three provided C simulation codes:</a:t>
            </a:r>
            <a:endParaRPr lang="en-US" sz="1600" dirty="0"/>
          </a:p>
        </p:txBody>
      </p:sp>
      <p:sp>
        <p:nvSpPr>
          <p:cNvPr id="5" name="Shape 3"/>
          <p:cNvSpPr/>
          <p:nvPr/>
        </p:nvSpPr>
        <p:spPr>
          <a:xfrm>
            <a:off x="365760" y="1474470"/>
            <a:ext cx="8412480" cy="914400"/>
          </a:xfrm>
          <a:prstGeom prst="roundRect">
            <a:avLst>
              <a:gd name="adj" fmla="val 10000"/>
            </a:avLst>
          </a:prstGeom>
          <a:solidFill>
            <a:srgbClr val="E3F2FD"/>
          </a:solidFill>
          <a:ln/>
        </p:spPr>
      </p:sp>
      <p:sp>
        <p:nvSpPr>
          <p:cNvPr id="6" name="Text 4"/>
          <p:cNvSpPr/>
          <p:nvPr/>
        </p:nvSpPr>
        <p:spPr>
          <a:xfrm>
            <a:off x="548640" y="1143000"/>
            <a:ext cx="8046720" cy="27432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1. Mortgage Payment Simulator</a:t>
            </a:r>
            <a:endParaRPr lang="en-US" sz="1600" dirty="0"/>
          </a:p>
        </p:txBody>
      </p:sp>
      <p:sp>
        <p:nvSpPr>
          <p:cNvPr id="7" name="Text 5"/>
          <p:cNvSpPr/>
          <p:nvPr/>
        </p:nvSpPr>
        <p:spPr>
          <a:xfrm>
            <a:off x="548640" y="1508760"/>
            <a:ext cx="8046720" cy="91440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Discrete time stepped model that computes loan balance, interest and principal reduction for each payment period.</a:t>
            </a:r>
            <a:endParaRPr lang="en-US" sz="1600" dirty="0"/>
          </a:p>
        </p:txBody>
      </p:sp>
      <p:sp>
        <p:nvSpPr>
          <p:cNvPr id="8" name="Shape 6"/>
          <p:cNvSpPr/>
          <p:nvPr/>
        </p:nvSpPr>
        <p:spPr>
          <a:xfrm>
            <a:off x="365760" y="2903220"/>
            <a:ext cx="8412480" cy="914400"/>
          </a:xfrm>
          <a:prstGeom prst="roundRect">
            <a:avLst>
              <a:gd name="adj" fmla="val 10000"/>
            </a:avLst>
          </a:prstGeom>
          <a:solidFill>
            <a:srgbClr val="E3F2FD"/>
          </a:solidFill>
          <a:ln/>
        </p:spPr>
      </p:sp>
      <p:sp>
        <p:nvSpPr>
          <p:cNvPr id="9" name="Text 7"/>
          <p:cNvSpPr/>
          <p:nvPr/>
        </p:nvSpPr>
        <p:spPr>
          <a:xfrm>
            <a:off x="548640" y="2628900"/>
            <a:ext cx="8046720" cy="27432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2. Monte Carlo Pi Estimator</a:t>
            </a:r>
            <a:endParaRPr lang="en-US" sz="1600" dirty="0"/>
          </a:p>
        </p:txBody>
      </p:sp>
      <p:sp>
        <p:nvSpPr>
          <p:cNvPr id="10" name="Text 8"/>
          <p:cNvSpPr/>
          <p:nvPr/>
        </p:nvSpPr>
        <p:spPr>
          <a:xfrm>
            <a:off x="548640" y="2994660"/>
            <a:ext cx="8046720" cy="75438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Stochastic simulation that estimates the mathematical constant π by randomly sampling points inside a unit square.</a:t>
            </a:r>
            <a:endParaRPr lang="en-US" sz="1600" dirty="0"/>
          </a:p>
        </p:txBody>
      </p:sp>
      <p:sp>
        <p:nvSpPr>
          <p:cNvPr id="11" name="Shape 9"/>
          <p:cNvSpPr/>
          <p:nvPr/>
        </p:nvSpPr>
        <p:spPr>
          <a:xfrm>
            <a:off x="365760" y="4183380"/>
            <a:ext cx="8412480" cy="914400"/>
          </a:xfrm>
          <a:prstGeom prst="roundRect">
            <a:avLst>
              <a:gd name="adj" fmla="val 10000"/>
            </a:avLst>
          </a:prstGeom>
          <a:solidFill>
            <a:srgbClr val="E3F2FD"/>
          </a:solidFill>
          <a:ln/>
        </p:spPr>
      </p:sp>
      <p:sp>
        <p:nvSpPr>
          <p:cNvPr id="12" name="Text 10"/>
          <p:cNvSpPr/>
          <p:nvPr/>
        </p:nvSpPr>
        <p:spPr>
          <a:xfrm>
            <a:off x="548640" y="3909060"/>
            <a:ext cx="8046720" cy="27432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3. Single Server Queue (ssq1)</a:t>
            </a:r>
            <a:endParaRPr lang="en-US" sz="1600" dirty="0"/>
          </a:p>
        </p:txBody>
      </p:sp>
      <p:sp>
        <p:nvSpPr>
          <p:cNvPr id="13" name="Text 11"/>
          <p:cNvSpPr/>
          <p:nvPr/>
        </p:nvSpPr>
        <p:spPr>
          <a:xfrm>
            <a:off x="548640" y="4183380"/>
            <a:ext cx="8046720" cy="91440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Trace-driven discrete-event simulation of a FIFO single-server service node using recorded arrival and service times.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2. Mortgage Model: Description</a:t>
            </a:r>
            <a:endParaRPr lang="en-US" sz="1600" dirty="0"/>
          </a:p>
        </p:txBody>
      </p:sp>
      <p:sp>
        <p:nvSpPr>
          <p:cNvPr id="4" name="Text 2"/>
          <p:cNvSpPr/>
          <p:nvPr/>
        </p:nvSpPr>
        <p:spPr>
          <a:xfrm>
            <a:off x="365760" y="731520"/>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System / Process Modelled</a:t>
            </a:r>
            <a:endParaRPr lang="en-US" sz="1600" dirty="0"/>
          </a:p>
        </p:txBody>
      </p:sp>
      <p:sp>
        <p:nvSpPr>
          <p:cNvPr id="5" name="Text 3"/>
          <p:cNvSpPr/>
          <p:nvPr/>
        </p:nvSpPr>
        <p:spPr>
          <a:xfrm>
            <a:off x="365760" y="1112139"/>
            <a:ext cx="8412480" cy="761238"/>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The code models the repayment of a fixed rate mortgage loan over successive payment periods. It tracks how each payment is split between interest and principal reduction until the loan balance reaches zero.</a:t>
            </a:r>
            <a:endParaRPr lang="en-US" sz="1600" dirty="0"/>
          </a:p>
        </p:txBody>
      </p:sp>
      <p:sp>
        <p:nvSpPr>
          <p:cNvPr id="6" name="Text 4"/>
          <p:cNvSpPr/>
          <p:nvPr/>
        </p:nvSpPr>
        <p:spPr>
          <a:xfrm>
            <a:off x="457200" y="2103501"/>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Key Components</a:t>
            </a:r>
            <a:endParaRPr lang="en-US" sz="1600" dirty="0"/>
          </a:p>
        </p:txBody>
      </p:sp>
      <p:sp>
        <p:nvSpPr>
          <p:cNvPr id="7" name="Text 5"/>
          <p:cNvSpPr/>
          <p:nvPr/>
        </p:nvSpPr>
        <p:spPr>
          <a:xfrm>
            <a:off x="274320" y="2432304"/>
            <a:ext cx="8229600" cy="365760"/>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a:t>
            </a:r>
            <a:r>
              <a:rPr lang="en-US" sz="1600" b="1" dirty="0">
                <a:solidFill>
                  <a:srgbClr val="212121"/>
                </a:solidFill>
                <a:latin typeface="Times New Roman" pitchFamily="34" charset="0"/>
                <a:ea typeface="Times New Roman" pitchFamily="34" charset="-122"/>
                <a:cs typeface="Times New Roman" pitchFamily="34" charset="-120"/>
              </a:rPr>
              <a:t>Inputs: </a:t>
            </a:r>
            <a:r>
              <a:rPr lang="en-US" sz="1600" dirty="0">
                <a:solidFill>
                  <a:srgbClr val="212121"/>
                </a:solidFill>
                <a:latin typeface="Times New Roman" pitchFamily="34" charset="0"/>
                <a:ea typeface="Times New Roman" pitchFamily="34" charset="-122"/>
                <a:cs typeface="Times New Roman" pitchFamily="34" charset="-120"/>
              </a:rPr>
              <a:t>principal amount, annual interest rate, payment size, payment interval (days)</a:t>
            </a:r>
            <a:endParaRPr lang="en-US" sz="1600" dirty="0"/>
          </a:p>
        </p:txBody>
      </p:sp>
      <p:sp>
        <p:nvSpPr>
          <p:cNvPr id="8" name="Text 6"/>
          <p:cNvSpPr/>
          <p:nvPr/>
        </p:nvSpPr>
        <p:spPr>
          <a:xfrm>
            <a:off x="274320" y="3028950"/>
            <a:ext cx="8229600" cy="365760"/>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a:t>
            </a:r>
            <a:r>
              <a:rPr lang="en-US" sz="1600" b="1" dirty="0">
                <a:solidFill>
                  <a:srgbClr val="212121"/>
                </a:solidFill>
                <a:latin typeface="Times New Roman" pitchFamily="34" charset="0"/>
                <a:ea typeface="Times New Roman" pitchFamily="34" charset="-122"/>
                <a:cs typeface="Times New Roman" pitchFamily="34" charset="-120"/>
              </a:rPr>
              <a:t>State variables</a:t>
            </a:r>
            <a:r>
              <a:rPr lang="en-US" sz="1600" dirty="0">
                <a:solidFill>
                  <a:srgbClr val="212121"/>
                </a:solidFill>
                <a:latin typeface="Times New Roman" pitchFamily="34" charset="0"/>
                <a:ea typeface="Times New Roman" pitchFamily="34" charset="-122"/>
                <a:cs typeface="Times New Roman" pitchFamily="34" charset="-120"/>
              </a:rPr>
              <a:t>: current principal balance, accumulated total interest, payment number</a:t>
            </a:r>
            <a:endParaRPr lang="en-US" sz="1600" dirty="0"/>
          </a:p>
        </p:txBody>
      </p:sp>
      <p:sp>
        <p:nvSpPr>
          <p:cNvPr id="9" name="Text 7"/>
          <p:cNvSpPr/>
          <p:nvPr/>
        </p:nvSpPr>
        <p:spPr>
          <a:xfrm>
            <a:off x="365760" y="3589020"/>
            <a:ext cx="8229600" cy="365760"/>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a:t>
            </a:r>
            <a:r>
              <a:rPr lang="en-US" sz="1600" b="1" dirty="0">
                <a:solidFill>
                  <a:srgbClr val="212121"/>
                </a:solidFill>
                <a:latin typeface="Times New Roman" pitchFamily="34" charset="0"/>
                <a:ea typeface="Times New Roman" pitchFamily="34" charset="-122"/>
                <a:cs typeface="Times New Roman" pitchFamily="34" charset="-120"/>
              </a:rPr>
              <a:t>Outputs: </a:t>
            </a:r>
            <a:r>
              <a:rPr lang="en-US" sz="1600" dirty="0">
                <a:solidFill>
                  <a:srgbClr val="212121"/>
                </a:solidFill>
                <a:latin typeface="Times New Roman" pitchFamily="34" charset="0"/>
                <a:ea typeface="Times New Roman" pitchFamily="34" charset="-122"/>
                <a:cs typeface="Times New Roman" pitchFamily="34" charset="-120"/>
              </a:rPr>
              <a:t>per period interest amount, principal reduction, remaining balance, total interest paid</a:t>
            </a:r>
            <a:endParaRPr lang="en-US" sz="1600" dirty="0"/>
          </a:p>
        </p:txBody>
      </p:sp>
      <p:sp>
        <p:nvSpPr>
          <p:cNvPr id="10" name="Text 8"/>
          <p:cNvSpPr/>
          <p:nvPr/>
        </p:nvSpPr>
        <p:spPr>
          <a:xfrm>
            <a:off x="365760" y="4137660"/>
            <a:ext cx="8229600" cy="632460"/>
          </a:xfrm>
          <a:prstGeom prst="rect">
            <a:avLst/>
          </a:prstGeom>
          <a:noFill/>
          <a:ln/>
        </p:spPr>
        <p:txBody>
          <a:bodyPr wrap="square" rtlCol="0" anchor="ctr"/>
          <a:lstStyle/>
          <a:p>
            <a:pPr marL="0" indent="0">
              <a:lnSpc>
                <a:spcPct val="200000"/>
              </a:lnSpc>
              <a:buNone/>
            </a:pPr>
            <a:r>
              <a:rPr lang="en-US" sz="1600" dirty="0">
                <a:solidFill>
                  <a:srgbClr val="212121"/>
                </a:solidFill>
                <a:latin typeface="Times New Roman" pitchFamily="34" charset="0"/>
                <a:ea typeface="Times New Roman" pitchFamily="34" charset="-122"/>
                <a:cs typeface="Times New Roman" pitchFamily="34" charset="-120"/>
              </a:rPr>
              <a:t>•  </a:t>
            </a:r>
            <a:r>
              <a:rPr lang="en-US" sz="1600" b="1" dirty="0">
                <a:solidFill>
                  <a:srgbClr val="212121"/>
                </a:solidFill>
                <a:latin typeface="Times New Roman" pitchFamily="34" charset="0"/>
                <a:ea typeface="Times New Roman" pitchFamily="34" charset="-122"/>
                <a:cs typeface="Times New Roman" pitchFamily="34" charset="-120"/>
              </a:rPr>
              <a:t>Assumptions</a:t>
            </a:r>
            <a:r>
              <a:rPr lang="en-US" sz="1600" dirty="0">
                <a:solidFill>
                  <a:srgbClr val="212121"/>
                </a:solidFill>
                <a:latin typeface="Times New Roman" pitchFamily="34" charset="0"/>
                <a:ea typeface="Times New Roman" pitchFamily="34" charset="-122"/>
                <a:cs typeface="Times New Roman" pitchFamily="34" charset="-120"/>
              </a:rPr>
              <a:t>: interest compounds semi-annually according to the bank formula; constant payment size; no early repayment or variable rates; taxes set to zero in the corrected version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lnSpc>
                <a:spcPct val="150000"/>
              </a:lnSpc>
              <a:buNone/>
            </a:pPr>
            <a:r>
              <a:rPr lang="en-US" sz="1600" b="1" dirty="0">
                <a:solidFill>
                  <a:srgbClr val="FFFFFF"/>
                </a:solidFill>
                <a:latin typeface="Times New Roman" pitchFamily="34" charset="0"/>
                <a:ea typeface="Times New Roman" pitchFamily="34" charset="-122"/>
                <a:cs typeface="Times New Roman" pitchFamily="34" charset="-120"/>
              </a:rPr>
              <a:t>3. Mortgage: Type of Simulation &amp; Experiments</a:t>
            </a:r>
            <a:endParaRPr lang="en-US" sz="1600" dirty="0"/>
          </a:p>
        </p:txBody>
      </p:sp>
      <p:sp>
        <p:nvSpPr>
          <p:cNvPr id="4" name="Text 2"/>
          <p:cNvSpPr/>
          <p:nvPr/>
        </p:nvSpPr>
        <p:spPr>
          <a:xfrm>
            <a:off x="365760" y="624840"/>
            <a:ext cx="8412480" cy="27432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Classification: Discrete time (time stepped) deterministic simulation</a:t>
            </a:r>
            <a:endParaRPr lang="en-US" sz="1600" dirty="0"/>
          </a:p>
        </p:txBody>
      </p:sp>
      <p:sp>
        <p:nvSpPr>
          <p:cNvPr id="5" name="Text 3"/>
          <p:cNvSpPr/>
          <p:nvPr/>
        </p:nvSpPr>
        <p:spPr>
          <a:xfrm>
            <a:off x="365760" y="1051560"/>
            <a:ext cx="8412480" cy="89916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Time advances in fixed payment intervals (e.g., every 30 days). No random numbers are used; the next state is completely determined by the current balance and the fixed payment and interest factor. The original comments also describe it as “sort of a time-stepped simulation”.</a:t>
            </a:r>
            <a:endParaRPr lang="en-US" sz="1600" dirty="0"/>
          </a:p>
        </p:txBody>
      </p:sp>
      <p:sp>
        <p:nvSpPr>
          <p:cNvPr id="6" name="Text 4"/>
          <p:cNvSpPr/>
          <p:nvPr/>
        </p:nvSpPr>
        <p:spPr>
          <a:xfrm>
            <a:off x="1112520" y="2080260"/>
            <a:ext cx="3810000" cy="33528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Scenario Analysis (two experiments)</a:t>
            </a:r>
            <a:endParaRPr lang="en-US" sz="1600" dirty="0"/>
          </a:p>
        </p:txBody>
      </p:sp>
      <p:sp>
        <p:nvSpPr>
          <p:cNvPr id="7" name="Text 5"/>
          <p:cNvSpPr/>
          <p:nvPr/>
        </p:nvSpPr>
        <p:spPr>
          <a:xfrm>
            <a:off x="365760" y="2461260"/>
            <a:ext cx="8412480" cy="640080"/>
          </a:xfrm>
          <a:prstGeom prst="rect">
            <a:avLst/>
          </a:prstGeom>
          <a:noFill/>
          <a:ln/>
        </p:spPr>
        <p:txBody>
          <a:bodyPr wrap="square" rtlCol="0" anchor="ctr"/>
          <a:lstStyle/>
          <a:p>
            <a:pPr marL="0" indent="0">
              <a:lnSpc>
                <a:spcPct val="150000"/>
              </a:lnSpc>
              <a:buNone/>
            </a:pPr>
            <a:r>
              <a:rPr lang="en-US" sz="1600" b="1" dirty="0">
                <a:solidFill>
                  <a:srgbClr val="212121"/>
                </a:solidFill>
                <a:latin typeface="Times New Roman" pitchFamily="34" charset="0"/>
                <a:ea typeface="Times New Roman" pitchFamily="34" charset="-122"/>
                <a:cs typeface="Times New Roman" pitchFamily="34" charset="-120"/>
              </a:rPr>
              <a:t>Experiment 1 </a:t>
            </a:r>
            <a:r>
              <a:rPr lang="en-US" sz="1600" dirty="0">
                <a:solidFill>
                  <a:srgbClr val="212121"/>
                </a:solidFill>
                <a:latin typeface="Times New Roman" pitchFamily="34" charset="0"/>
                <a:ea typeface="Times New Roman" pitchFamily="34" charset="-122"/>
                <a:cs typeface="Times New Roman" pitchFamily="34" charset="-120"/>
              </a:rPr>
              <a:t>(Baseline): Principal = $100000, interest = 10.5 %, payment = $1100 every 30 days.</a:t>
            </a:r>
            <a:endParaRPr lang="en-US" sz="1600" dirty="0"/>
          </a:p>
        </p:txBody>
      </p:sp>
      <p:sp>
        <p:nvSpPr>
          <p:cNvPr id="8" name="Text 6"/>
          <p:cNvSpPr/>
          <p:nvPr/>
        </p:nvSpPr>
        <p:spPr>
          <a:xfrm>
            <a:off x="274320" y="3451860"/>
            <a:ext cx="8412480" cy="640080"/>
          </a:xfrm>
          <a:prstGeom prst="rect">
            <a:avLst/>
          </a:prstGeom>
          <a:noFill/>
          <a:ln/>
        </p:spPr>
        <p:txBody>
          <a:bodyPr wrap="square" rtlCol="0" anchor="ctr"/>
          <a:lstStyle/>
          <a:p>
            <a:pPr marL="0" indent="0">
              <a:lnSpc>
                <a:spcPct val="150000"/>
              </a:lnSpc>
              <a:buNone/>
            </a:pPr>
            <a:r>
              <a:rPr lang="en-US" sz="1600" b="1" dirty="0">
                <a:solidFill>
                  <a:srgbClr val="212121"/>
                </a:solidFill>
                <a:latin typeface="Times New Roman" pitchFamily="34" charset="0"/>
                <a:ea typeface="Times New Roman" pitchFamily="34" charset="-122"/>
                <a:cs typeface="Times New Roman" pitchFamily="34" charset="-120"/>
              </a:rPr>
              <a:t>Experiment 2 </a:t>
            </a:r>
            <a:r>
              <a:rPr lang="en-US" sz="1600" dirty="0">
                <a:solidFill>
                  <a:srgbClr val="212121"/>
                </a:solidFill>
                <a:latin typeface="Times New Roman" pitchFamily="34" charset="0"/>
                <a:ea typeface="Times New Roman" pitchFamily="34" charset="-122"/>
                <a:cs typeface="Times New Roman" pitchFamily="34" charset="-120"/>
              </a:rPr>
              <a:t>(Higher payment): Same principal and rate, but payment raised to $1300 every 30 days.</a:t>
            </a:r>
            <a:endParaRPr lang="en-US" sz="1600" dirty="0"/>
          </a:p>
        </p:txBody>
      </p:sp>
      <p:sp>
        <p:nvSpPr>
          <p:cNvPr id="9" name="Text 7"/>
          <p:cNvSpPr/>
          <p:nvPr/>
        </p:nvSpPr>
        <p:spPr>
          <a:xfrm>
            <a:off x="365760" y="4503420"/>
            <a:ext cx="8412480" cy="45720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A third run with a smaller payment quickly shows the warning that the payment cannot cover the interest, demonstrating model robustness checks.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0B00B12D-098E-4F64-A2D2-C08F2F65750A}"/>
              </a:ext>
            </a:extLst>
          </p:cNvPr>
          <p:cNvSpPr/>
          <p:nvPr/>
        </p:nvSpPr>
        <p:spPr>
          <a:xfrm>
            <a:off x="0" y="0"/>
            <a:ext cx="9144000" cy="548640"/>
          </a:xfrm>
          <a:prstGeom prst="rect">
            <a:avLst/>
          </a:prstGeom>
          <a:solidFill>
            <a:srgbClr val="1A237E"/>
          </a:solidFill>
          <a:ln/>
        </p:spPr>
      </p:sp>
      <p:pic>
        <p:nvPicPr>
          <p:cNvPr id="3" name="Picture 2">
            <a:extLst>
              <a:ext uri="{FF2B5EF4-FFF2-40B4-BE49-F238E27FC236}">
                <a16:creationId xmlns:a16="http://schemas.microsoft.com/office/drawing/2014/main" id="{BBB43856-B928-0EAD-A2FB-9E0BD92AD1A8}"/>
              </a:ext>
            </a:extLst>
          </p:cNvPr>
          <p:cNvPicPr/>
          <p:nvPr/>
        </p:nvPicPr>
        <p:blipFill>
          <a:blip r:embed="rId2"/>
          <a:stretch>
            <a:fillRect/>
          </a:stretch>
        </p:blipFill>
        <p:spPr bwMode="auto">
          <a:xfrm>
            <a:off x="66375" y="484702"/>
            <a:ext cx="4050631" cy="3323987"/>
          </a:xfrm>
          <a:prstGeom prst="rect">
            <a:avLst/>
          </a:prstGeom>
        </p:spPr>
      </p:pic>
      <p:pic>
        <p:nvPicPr>
          <p:cNvPr id="4" name="Picture 3">
            <a:extLst>
              <a:ext uri="{FF2B5EF4-FFF2-40B4-BE49-F238E27FC236}">
                <a16:creationId xmlns:a16="http://schemas.microsoft.com/office/drawing/2014/main" id="{EDA23EFD-5E29-2FA5-98B2-6E34A9D064BE}"/>
              </a:ext>
            </a:extLst>
          </p:cNvPr>
          <p:cNvPicPr>
            <a:picLocks noChangeAspect="1"/>
          </p:cNvPicPr>
          <p:nvPr/>
        </p:nvPicPr>
        <p:blipFill>
          <a:blip r:embed="rId3"/>
          <a:stretch>
            <a:fillRect/>
          </a:stretch>
        </p:blipFill>
        <p:spPr>
          <a:xfrm>
            <a:off x="4884422" y="484702"/>
            <a:ext cx="3985258" cy="3224928"/>
          </a:xfrm>
          <a:prstGeom prst="rect">
            <a:avLst/>
          </a:prstGeom>
        </p:spPr>
      </p:pic>
      <p:sp>
        <p:nvSpPr>
          <p:cNvPr id="6" name="TextBox 5">
            <a:extLst>
              <a:ext uri="{FF2B5EF4-FFF2-40B4-BE49-F238E27FC236}">
                <a16:creationId xmlns:a16="http://schemas.microsoft.com/office/drawing/2014/main" id="{70D8D05E-06DA-39E5-4CFC-4809D24EE72A}"/>
              </a:ext>
            </a:extLst>
          </p:cNvPr>
          <p:cNvSpPr txBox="1"/>
          <p:nvPr/>
        </p:nvSpPr>
        <p:spPr>
          <a:xfrm>
            <a:off x="66375" y="3808689"/>
            <a:ext cx="4193205" cy="1294393"/>
          </a:xfrm>
          <a:prstGeom prst="rect">
            <a:avLst/>
          </a:prstGeom>
          <a:noFill/>
        </p:spPr>
        <p:txBody>
          <a:bodyPr wrap="square" rtlCol="0">
            <a:spAutoFit/>
          </a:bodyPr>
          <a:lstStyle/>
          <a:p>
            <a:pPr>
              <a:lnSpc>
                <a:spcPct val="150000"/>
              </a:lnSpc>
            </a:pPr>
            <a:r>
              <a:rPr lang="en-GB" b="1" dirty="0">
                <a:latin typeface="Times New Roman" panose="02020603050405020304" pitchFamily="18" charset="0"/>
                <a:cs typeface="Times New Roman" panose="02020603050405020304" pitchFamily="18" charset="0"/>
              </a:rPr>
              <a:t>Experiment 1: </a:t>
            </a:r>
            <a:r>
              <a:rPr lang="en-US" dirty="0">
                <a:solidFill>
                  <a:srgbClr val="212121"/>
                </a:solidFill>
                <a:latin typeface="Times New Roman" pitchFamily="34" charset="0"/>
                <a:ea typeface="Times New Roman" pitchFamily="34" charset="-122"/>
                <a:cs typeface="Times New Roman" pitchFamily="34" charset="-120"/>
              </a:rPr>
              <a:t>Loan is paid off after 178 payments (≈14.8 years). Total interest paid ≈ $95167.</a:t>
            </a:r>
            <a:endParaRPr lang="en-US" dirty="0"/>
          </a:p>
        </p:txBody>
      </p:sp>
      <p:sp>
        <p:nvSpPr>
          <p:cNvPr id="7" name="TextBox 6">
            <a:extLst>
              <a:ext uri="{FF2B5EF4-FFF2-40B4-BE49-F238E27FC236}">
                <a16:creationId xmlns:a16="http://schemas.microsoft.com/office/drawing/2014/main" id="{354F0AF7-9890-0A2C-2B36-76B5F1DDDF6D}"/>
              </a:ext>
            </a:extLst>
          </p:cNvPr>
          <p:cNvSpPr txBox="1"/>
          <p:nvPr/>
        </p:nvSpPr>
        <p:spPr>
          <a:xfrm>
            <a:off x="4884421" y="3701350"/>
            <a:ext cx="4193203" cy="1289071"/>
          </a:xfrm>
          <a:prstGeom prst="rect">
            <a:avLst/>
          </a:prstGeom>
          <a:noFill/>
        </p:spPr>
        <p:txBody>
          <a:bodyPr wrap="square" rtlCol="0">
            <a:spAutoFit/>
          </a:bodyPr>
          <a:lstStyle/>
          <a:p>
            <a:pPr>
              <a:lnSpc>
                <a:spcPct val="150000"/>
              </a:lnSpc>
            </a:pPr>
            <a:r>
              <a:rPr lang="en-UG" b="1" dirty="0">
                <a:latin typeface="Times New Roman" panose="02020603050405020304" pitchFamily="18" charset="0"/>
                <a:cs typeface="Times New Roman" panose="02020603050405020304" pitchFamily="18" charset="0"/>
              </a:rPr>
              <a:t>Experiment 2</a:t>
            </a:r>
            <a:r>
              <a:rPr lang="en-GB" b="1" dirty="0">
                <a:latin typeface="Times New Roman" panose="02020603050405020304" pitchFamily="18" charset="0"/>
                <a:cs typeface="Times New Roman" panose="02020603050405020304" pitchFamily="18" charset="0"/>
              </a:rPr>
              <a:t>: </a:t>
            </a:r>
            <a:r>
              <a:rPr lang="en-US" dirty="0">
                <a:solidFill>
                  <a:srgbClr val="212121"/>
                </a:solidFill>
                <a:latin typeface="Times New Roman" pitchFamily="34" charset="0"/>
                <a:ea typeface="Times New Roman" pitchFamily="34" charset="-122"/>
                <a:cs typeface="Times New Roman" pitchFamily="34" charset="-120"/>
              </a:rPr>
              <a:t>Fewer payments of 127 and lower total interest($64261.09), showing the effect of accelerated repayment.</a:t>
            </a:r>
            <a:endParaRPr lang="en-U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F460B3DE-5535-E365-332E-C9F8852A15E5}"/>
              </a:ext>
            </a:extLst>
          </p:cNvPr>
          <p:cNvSpPr txBox="1"/>
          <p:nvPr/>
        </p:nvSpPr>
        <p:spPr>
          <a:xfrm>
            <a:off x="3987541" y="-9764"/>
            <a:ext cx="2375159" cy="553998"/>
          </a:xfrm>
          <a:prstGeom prst="rect">
            <a:avLst/>
          </a:prstGeom>
          <a:noFill/>
        </p:spPr>
        <p:txBody>
          <a:bodyPr wrap="square" rtlCol="0">
            <a:spAutoFit/>
          </a:bodyPr>
          <a:lstStyle/>
          <a:p>
            <a:r>
              <a:rPr lang="en-GB" sz="3000" b="1"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rPr>
              <a:t>RESULTS</a:t>
            </a:r>
            <a:endParaRPr lang="en-UG" sz="3000" b="1" spc="50" dirty="0">
              <a:ln w="9525" cmpd="sng">
                <a:solidFill>
                  <a:schemeClr val="accent1"/>
                </a:solidFill>
                <a:prstDash val="solid"/>
              </a:ln>
              <a:solidFill>
                <a:srgbClr val="70AD47">
                  <a:tint val="1000"/>
                </a:srgbClr>
              </a:solidFill>
              <a:effectLst>
                <a:glow rad="38100">
                  <a:schemeClr val="accent1">
                    <a:alpha val="40000"/>
                  </a:schemeClr>
                </a:glo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460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4. Mortgage: Evaluation, Debugging and Improvements</a:t>
            </a:r>
            <a:endParaRPr lang="en-US" sz="1600" dirty="0"/>
          </a:p>
        </p:txBody>
      </p:sp>
      <p:sp>
        <p:nvSpPr>
          <p:cNvPr id="4" name="Text 2"/>
          <p:cNvSpPr/>
          <p:nvPr/>
        </p:nvSpPr>
        <p:spPr>
          <a:xfrm>
            <a:off x="365760" y="731520"/>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Identified Limitations / Errors</a:t>
            </a:r>
            <a:endParaRPr lang="en-US" sz="1600" dirty="0"/>
          </a:p>
        </p:txBody>
      </p:sp>
      <p:sp>
        <p:nvSpPr>
          <p:cNvPr id="5" name="Text 3"/>
          <p:cNvSpPr/>
          <p:nvPr/>
        </p:nvSpPr>
        <p:spPr>
          <a:xfrm>
            <a:off x="365760" y="1170432"/>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Variable ‘taxes’ was declared but never initialised → undefined behaviour (fixed by setting taxes = 0.0).</a:t>
            </a:r>
            <a:endParaRPr lang="en-US" sz="1600" dirty="0"/>
          </a:p>
        </p:txBody>
      </p:sp>
      <p:sp>
        <p:nvSpPr>
          <p:cNvPr id="6" name="Text 4"/>
          <p:cNvSpPr/>
          <p:nvPr/>
        </p:nvSpPr>
        <p:spPr>
          <a:xfrm>
            <a:off x="365760" y="1766316"/>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No upper bound on the number of iterations → potential infinite loop when payment ≤ interest.</a:t>
            </a:r>
            <a:endParaRPr lang="en-US" sz="1600" dirty="0"/>
          </a:p>
        </p:txBody>
      </p:sp>
      <p:sp>
        <p:nvSpPr>
          <p:cNvPr id="7" name="Text 5"/>
          <p:cNvSpPr/>
          <p:nvPr/>
        </p:nvSpPr>
        <p:spPr>
          <a:xfrm>
            <a:off x="365760" y="2293621"/>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MONTH_FUDGE alternates 30/31 days, which is only an approximate calendar model.</a:t>
            </a:r>
            <a:endParaRPr lang="en-US" sz="1600" dirty="0"/>
          </a:p>
        </p:txBody>
      </p:sp>
      <p:sp>
        <p:nvSpPr>
          <p:cNvPr id="8" name="Text 6"/>
          <p:cNvSpPr/>
          <p:nvPr/>
        </p:nvSpPr>
        <p:spPr>
          <a:xfrm>
            <a:off x="365760" y="2852930"/>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Semi-annual compounding formula is hard-coded; real mortgages may use different conventions.</a:t>
            </a:r>
            <a:endParaRPr lang="en-US" sz="1600" dirty="0"/>
          </a:p>
        </p:txBody>
      </p:sp>
      <p:sp>
        <p:nvSpPr>
          <p:cNvPr id="9" name="Text 7"/>
          <p:cNvSpPr/>
          <p:nvPr/>
        </p:nvSpPr>
        <p:spPr>
          <a:xfrm>
            <a:off x="998220" y="3427476"/>
            <a:ext cx="31623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Proposed Improvements</a:t>
            </a:r>
            <a:endParaRPr lang="en-US" sz="1600" dirty="0"/>
          </a:p>
        </p:txBody>
      </p:sp>
      <p:sp>
        <p:nvSpPr>
          <p:cNvPr id="10" name="Text 8"/>
          <p:cNvSpPr/>
          <p:nvPr/>
        </p:nvSpPr>
        <p:spPr>
          <a:xfrm>
            <a:off x="457200" y="3701796"/>
            <a:ext cx="8229600" cy="1418844"/>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Add support for variable interest rates and extra payments.</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Use a proper calendar library for exact day counts.</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Output an amortisation schedule to a CSV file for further analysis.</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Allow the user to specify a target loan term and compute the required payment.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5. Monte Carlo Pi Estimator: Model Description</a:t>
            </a:r>
            <a:endParaRPr lang="en-US" sz="1600" dirty="0"/>
          </a:p>
        </p:txBody>
      </p:sp>
      <p:sp>
        <p:nvSpPr>
          <p:cNvPr id="4" name="Text 2"/>
          <p:cNvSpPr/>
          <p:nvPr/>
        </p:nvSpPr>
        <p:spPr>
          <a:xfrm>
            <a:off x="365760" y="731520"/>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System / Process Modelled</a:t>
            </a:r>
            <a:endParaRPr lang="en-US" sz="1600" dirty="0"/>
          </a:p>
        </p:txBody>
      </p:sp>
      <p:sp>
        <p:nvSpPr>
          <p:cNvPr id="5" name="Text 3"/>
          <p:cNvSpPr/>
          <p:nvPr/>
        </p:nvSpPr>
        <p:spPr>
          <a:xfrm>
            <a:off x="274320" y="1027175"/>
            <a:ext cx="8412480" cy="1058037"/>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The program estimates the value of π by a classic Monte Carlo geometric probability experiment. Random points are thrown uniformly into the unit square [0,1] × [0,1]. The proportion that fall inside the quarter unit circle is multiplied by 4 to obtain an estimate of π.</a:t>
            </a:r>
            <a:endParaRPr lang="en-US" sz="1600" dirty="0"/>
          </a:p>
        </p:txBody>
      </p:sp>
      <p:sp>
        <p:nvSpPr>
          <p:cNvPr id="6" name="Text 4"/>
          <p:cNvSpPr/>
          <p:nvPr/>
        </p:nvSpPr>
        <p:spPr>
          <a:xfrm>
            <a:off x="365760" y="2263902"/>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Key Components</a:t>
            </a:r>
            <a:endParaRPr lang="en-US" sz="1600" dirty="0"/>
          </a:p>
        </p:txBody>
      </p:sp>
      <p:sp>
        <p:nvSpPr>
          <p:cNvPr id="7" name="Text 5"/>
          <p:cNvSpPr/>
          <p:nvPr/>
        </p:nvSpPr>
        <p:spPr>
          <a:xfrm>
            <a:off x="411480" y="2637663"/>
            <a:ext cx="8229600" cy="347472"/>
          </a:xfrm>
          <a:prstGeom prst="rect">
            <a:avLst/>
          </a:prstGeom>
          <a:noFill/>
          <a:ln/>
        </p:spPr>
        <p:txBody>
          <a:bodyPr wrap="square" rtlCol="0" anchor="ctr"/>
          <a:lstStyle/>
          <a:p>
            <a:pPr marL="0" indent="0">
              <a:buNone/>
            </a:pPr>
            <a:r>
              <a:rPr lang="en-US" sz="1600" b="1" dirty="0">
                <a:solidFill>
                  <a:srgbClr val="212121"/>
                </a:solidFill>
                <a:latin typeface="Times New Roman" pitchFamily="34" charset="0"/>
                <a:ea typeface="Times New Roman" pitchFamily="34" charset="-122"/>
                <a:cs typeface="Times New Roman" pitchFamily="34" charset="-120"/>
              </a:rPr>
              <a:t>•  Input: </a:t>
            </a:r>
            <a:r>
              <a:rPr lang="en-US" sz="1600" dirty="0">
                <a:solidFill>
                  <a:srgbClr val="212121"/>
                </a:solidFill>
                <a:latin typeface="Times New Roman" pitchFamily="34" charset="0"/>
                <a:ea typeface="Times New Roman" pitchFamily="34" charset="-122"/>
                <a:cs typeface="Times New Roman" pitchFamily="34" charset="-120"/>
              </a:rPr>
              <a:t>number of random trials (iterations)</a:t>
            </a:r>
            <a:endParaRPr lang="en-US" sz="1600" dirty="0"/>
          </a:p>
        </p:txBody>
      </p:sp>
      <p:sp>
        <p:nvSpPr>
          <p:cNvPr id="8" name="Text 6"/>
          <p:cNvSpPr/>
          <p:nvPr/>
        </p:nvSpPr>
        <p:spPr>
          <a:xfrm>
            <a:off x="411480" y="3080766"/>
            <a:ext cx="8229600" cy="347472"/>
          </a:xfrm>
          <a:prstGeom prst="rect">
            <a:avLst/>
          </a:prstGeom>
          <a:noFill/>
          <a:ln/>
        </p:spPr>
        <p:txBody>
          <a:bodyPr wrap="square" rtlCol="0" anchor="ctr"/>
          <a:lstStyle/>
          <a:p>
            <a:pPr marL="0" indent="0">
              <a:buNone/>
            </a:pPr>
            <a:r>
              <a:rPr lang="en-US" sz="1600" b="1" dirty="0">
                <a:solidFill>
                  <a:srgbClr val="212121"/>
                </a:solidFill>
                <a:latin typeface="Times New Roman" pitchFamily="34" charset="0"/>
                <a:ea typeface="Times New Roman" pitchFamily="34" charset="-122"/>
                <a:cs typeface="Times New Roman" pitchFamily="34" charset="-120"/>
              </a:rPr>
              <a:t>•  State: </a:t>
            </a:r>
            <a:r>
              <a:rPr lang="en-US" sz="1600" dirty="0">
                <a:solidFill>
                  <a:srgbClr val="212121"/>
                </a:solidFill>
                <a:latin typeface="Times New Roman" pitchFamily="34" charset="0"/>
                <a:ea typeface="Times New Roman" pitchFamily="34" charset="-122"/>
                <a:cs typeface="Times New Roman" pitchFamily="34" charset="-120"/>
              </a:rPr>
              <a:t>count of points that satisfy x² + y² ≤ 1</a:t>
            </a:r>
            <a:endParaRPr lang="en-US" sz="1600" dirty="0"/>
          </a:p>
        </p:txBody>
      </p:sp>
      <p:sp>
        <p:nvSpPr>
          <p:cNvPr id="9" name="Text 7"/>
          <p:cNvSpPr/>
          <p:nvPr/>
        </p:nvSpPr>
        <p:spPr>
          <a:xfrm>
            <a:off x="411480" y="3619500"/>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a:t>
            </a:r>
            <a:r>
              <a:rPr lang="en-US" sz="1600" b="1" dirty="0">
                <a:solidFill>
                  <a:srgbClr val="212121"/>
                </a:solidFill>
                <a:latin typeface="Times New Roman" pitchFamily="34" charset="0"/>
                <a:ea typeface="Times New Roman" pitchFamily="34" charset="-122"/>
                <a:cs typeface="Times New Roman" pitchFamily="34" charset="-120"/>
              </a:rPr>
              <a:t>Output: </a:t>
            </a:r>
            <a:r>
              <a:rPr lang="en-US" sz="1600" dirty="0">
                <a:solidFill>
                  <a:srgbClr val="212121"/>
                </a:solidFill>
                <a:latin typeface="Times New Roman" pitchFamily="34" charset="0"/>
                <a:ea typeface="Times New Roman" pitchFamily="34" charset="-122"/>
                <a:cs typeface="Times New Roman" pitchFamily="34" charset="-120"/>
              </a:rPr>
              <a:t>estimate π̂ = 4 × (count / trials)</a:t>
            </a:r>
            <a:endParaRPr lang="en-US" sz="1600" dirty="0"/>
          </a:p>
        </p:txBody>
      </p:sp>
      <p:sp>
        <p:nvSpPr>
          <p:cNvPr id="10" name="Text 8"/>
          <p:cNvSpPr/>
          <p:nvPr/>
        </p:nvSpPr>
        <p:spPr>
          <a:xfrm>
            <a:off x="411480" y="4312920"/>
            <a:ext cx="8229600" cy="83058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a:t>
            </a:r>
            <a:r>
              <a:rPr lang="en-US" sz="1600" b="1" dirty="0">
                <a:solidFill>
                  <a:srgbClr val="212121"/>
                </a:solidFill>
                <a:latin typeface="Times New Roman" pitchFamily="34" charset="0"/>
                <a:ea typeface="Times New Roman" pitchFamily="34" charset="-122"/>
                <a:cs typeface="Times New Roman" pitchFamily="34" charset="-120"/>
              </a:rPr>
              <a:t>Assumptions: </a:t>
            </a:r>
            <a:r>
              <a:rPr lang="en-US" sz="1600" dirty="0">
                <a:solidFill>
                  <a:srgbClr val="212121"/>
                </a:solidFill>
                <a:latin typeface="Times New Roman" pitchFamily="34" charset="0"/>
                <a:ea typeface="Times New Roman" pitchFamily="34" charset="-122"/>
                <a:cs typeface="Times New Roman" pitchFamily="34" charset="-120"/>
              </a:rPr>
              <a:t>random numbers are independent and uniformly distributed on [0,1]; the geometric probability argument holds exactly in the limit of infinite trials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6. Pi Estimator: Type and Simulation Experiments</a:t>
            </a:r>
            <a:endParaRPr lang="en-US" sz="1800" dirty="0"/>
          </a:p>
        </p:txBody>
      </p:sp>
      <p:sp>
        <p:nvSpPr>
          <p:cNvPr id="4" name="Text 2"/>
          <p:cNvSpPr/>
          <p:nvPr/>
        </p:nvSpPr>
        <p:spPr>
          <a:xfrm>
            <a:off x="365760" y="731520"/>
            <a:ext cx="8412480" cy="274320"/>
          </a:xfrm>
          <a:prstGeom prst="rect">
            <a:avLst/>
          </a:prstGeom>
          <a:noFill/>
          <a:ln/>
        </p:spPr>
        <p:txBody>
          <a:bodyPr wrap="square" rtlCol="0" anchor="ctr"/>
          <a:lstStyle/>
          <a:p>
            <a:pPr marL="0" indent="0">
              <a:buNone/>
            </a:pPr>
            <a:r>
              <a:rPr lang="en-US" sz="1300" b="1" dirty="0">
                <a:solidFill>
                  <a:srgbClr val="1A237E"/>
                </a:solidFill>
                <a:latin typeface="Times New Roman" pitchFamily="34" charset="0"/>
                <a:ea typeface="Times New Roman" pitchFamily="34" charset="-122"/>
                <a:cs typeface="Times New Roman" pitchFamily="34" charset="-120"/>
              </a:rPr>
              <a:t>Classification: Stochastic (Monte Carlo) simulation / static simulation</a:t>
            </a:r>
            <a:endParaRPr lang="en-US" sz="1300" dirty="0"/>
          </a:p>
        </p:txBody>
      </p:sp>
      <p:sp>
        <p:nvSpPr>
          <p:cNvPr id="5" name="Text 3"/>
          <p:cNvSpPr/>
          <p:nvPr/>
        </p:nvSpPr>
        <p:spPr>
          <a:xfrm>
            <a:off x="365760" y="1051560"/>
            <a:ext cx="8412480" cy="50292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Justification: Random sampling is the core mechanism. There is no notion of simulated time advancing; each trial is independent. The method relies on the law of large numbers.</a:t>
            </a:r>
            <a:endParaRPr lang="en-US" sz="1600" dirty="0"/>
          </a:p>
        </p:txBody>
      </p:sp>
      <p:sp>
        <p:nvSpPr>
          <p:cNvPr id="6" name="Text 4"/>
          <p:cNvSpPr/>
          <p:nvPr/>
        </p:nvSpPr>
        <p:spPr>
          <a:xfrm>
            <a:off x="365760" y="1783080"/>
            <a:ext cx="3406140" cy="339092"/>
          </a:xfrm>
          <a:prstGeom prst="rect">
            <a:avLst/>
          </a:prstGeom>
          <a:noFill/>
          <a:ln/>
        </p:spPr>
        <p:txBody>
          <a:bodyPr wrap="square" rtlCol="0" anchor="ctr"/>
          <a:lstStyle/>
          <a:p>
            <a:pPr marL="0" indent="0">
              <a:buNone/>
            </a:pPr>
            <a:r>
              <a:rPr lang="en-US" sz="1300" b="1" dirty="0">
                <a:solidFill>
                  <a:srgbClr val="1A237E"/>
                </a:solidFill>
                <a:latin typeface="Times New Roman" pitchFamily="34" charset="0"/>
                <a:ea typeface="Times New Roman" pitchFamily="34" charset="-122"/>
                <a:cs typeface="Times New Roman" pitchFamily="34" charset="-120"/>
              </a:rPr>
              <a:t>Experiment Results (fixed seed 1234567)</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4231533825"/>
              </p:ext>
            </p:extLst>
          </p:nvPr>
        </p:nvGraphicFramePr>
        <p:xfrm>
          <a:off x="533401" y="2217421"/>
          <a:ext cx="4160520" cy="2011680"/>
        </p:xfrm>
        <a:graphic>
          <a:graphicData uri="http://schemas.openxmlformats.org/drawingml/2006/table">
            <a:tbl>
              <a:tblPr/>
              <a:tblGrid>
                <a:gridCol w="118872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02336">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Trials</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solidFill>
                      <a:srgbClr val="1A237E"/>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Estimate of π</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solidFill>
                      <a:srgbClr val="1A237E"/>
                    </a:solidFill>
                  </a:tcPr>
                </a:tc>
                <a:tc>
                  <a:txBody>
                    <a:bodyP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Absolute Error</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solidFill>
                      <a:srgbClr val="1A237E"/>
                    </a:solidFill>
                  </a:tcPr>
                </a:tc>
                <a:extLst>
                  <a:ext uri="{0D108BD9-81ED-4DB2-BD59-A6C34878D82A}">
                    <a16:rowId xmlns:a16="http://schemas.microsoft.com/office/drawing/2014/main" val="10000"/>
                  </a:ext>
                </a:extLst>
              </a:tr>
              <a:tr h="402336">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100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3.1200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0.0216</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1 000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3.2400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0.0984</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10000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3.1896</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0.0480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100000</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3.1487</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200" dirty="0">
                          <a:solidFill>
                            <a:srgbClr val="212121"/>
                          </a:solidFill>
                          <a:latin typeface="Times New Roman" pitchFamily="34" charset="0"/>
                          <a:ea typeface="Times New Roman" pitchFamily="34" charset="-122"/>
                          <a:cs typeface="Times New Roman" pitchFamily="34" charset="-120"/>
                        </a:rPr>
                        <a:t>0.0071</a:t>
                      </a:r>
                      <a:endParaRPr lang="en-US" sz="12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5"/>
          <p:cNvSpPr/>
          <p:nvPr/>
        </p:nvSpPr>
        <p:spPr>
          <a:xfrm>
            <a:off x="365760" y="4419600"/>
            <a:ext cx="8412480" cy="320040"/>
          </a:xfrm>
          <a:prstGeom prst="rect">
            <a:avLst/>
          </a:prstGeom>
          <a:noFill/>
          <a:ln/>
        </p:spPr>
        <p:txBody>
          <a:bodyPr wrap="square" rtlCol="0" anchor="ctr"/>
          <a:lstStyle/>
          <a:p>
            <a:pPr marL="0" indent="0">
              <a:buNone/>
            </a:pPr>
            <a:r>
              <a:rPr lang="en-US" sz="1200" i="1" dirty="0">
                <a:solidFill>
                  <a:srgbClr val="212121"/>
                </a:solidFill>
                <a:latin typeface="Times New Roman" pitchFamily="34" charset="0"/>
                <a:ea typeface="Times New Roman" pitchFamily="34" charset="-122"/>
                <a:cs typeface="Times New Roman" pitchFamily="34" charset="-120"/>
              </a:rPr>
              <a:t>Observation: accuracy generally improves with more trials, consistent with Monte Carlo theory.</a:t>
            </a:r>
            <a:endParaRPr lang="en-US" sz="1200" dirty="0"/>
          </a:p>
        </p:txBody>
      </p:sp>
      <p:pic>
        <p:nvPicPr>
          <p:cNvPr id="9" name="Picture 8">
            <a:extLst>
              <a:ext uri="{FF2B5EF4-FFF2-40B4-BE49-F238E27FC236}">
                <a16:creationId xmlns:a16="http://schemas.microsoft.com/office/drawing/2014/main" id="{0102672D-FD59-25BB-C919-F124B8AEE1B9}"/>
              </a:ext>
            </a:extLst>
          </p:cNvPr>
          <p:cNvPicPr>
            <a:picLocks noChangeAspect="1"/>
          </p:cNvPicPr>
          <p:nvPr/>
        </p:nvPicPr>
        <p:blipFill>
          <a:blip r:embed="rId3"/>
          <a:stretch>
            <a:fillRect/>
          </a:stretch>
        </p:blipFill>
        <p:spPr>
          <a:xfrm>
            <a:off x="4968240" y="1783080"/>
            <a:ext cx="3977640" cy="25831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7. Pi Estimator: Evaluation and Code Corrections</a:t>
            </a:r>
            <a:endParaRPr lang="en-US" sz="1600" dirty="0"/>
          </a:p>
        </p:txBody>
      </p:sp>
      <p:sp>
        <p:nvSpPr>
          <p:cNvPr id="4" name="Text 2"/>
          <p:cNvSpPr/>
          <p:nvPr/>
        </p:nvSpPr>
        <p:spPr>
          <a:xfrm>
            <a:off x="365760" y="694944"/>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Original Code Issues</a:t>
            </a:r>
            <a:endParaRPr lang="en-US" sz="1600" dirty="0"/>
          </a:p>
        </p:txBody>
      </p:sp>
      <p:sp>
        <p:nvSpPr>
          <p:cNvPr id="5" name="Text 3"/>
          <p:cNvSpPr/>
          <p:nvPr/>
        </p:nvSpPr>
        <p:spPr>
          <a:xfrm>
            <a:off x="457200" y="969264"/>
            <a:ext cx="8229600" cy="126949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Used non-standard POSIX functions srandom() / random() instead of the portable srand() / rand().</a:t>
            </a:r>
            <a:endParaRPr lang="en-US" sz="1600" dirty="0"/>
          </a:p>
          <a:p>
            <a:pPr marL="0" indent="0">
              <a:buNone/>
            </a:pPr>
            <a:r>
              <a:rPr lang="en-US" sz="1600" dirty="0">
                <a:solidFill>
                  <a:srgbClr val="212121"/>
                </a:solidFill>
                <a:latin typeface="Times New Roman" pitchFamily="34" charset="0"/>
                <a:ea typeface="Times New Roman" pitchFamily="34" charset="-122"/>
                <a:cs typeface="Times New Roman" pitchFamily="34" charset="-120"/>
              </a:rPr>
              <a:t>• DEBUG macro was permanently set to 1, producing thousands of lines of output for large trial counts.</a:t>
            </a:r>
            <a:endParaRPr lang="en-US" sz="1600" dirty="0"/>
          </a:p>
          <a:p>
            <a:pPr marL="0" indent="0">
              <a:buNone/>
            </a:pPr>
            <a:r>
              <a:rPr lang="en-US" sz="1600" dirty="0">
                <a:solidFill>
                  <a:srgbClr val="212121"/>
                </a:solidFill>
                <a:latin typeface="Times New Roman" pitchFamily="34" charset="0"/>
                <a:ea typeface="Times New Roman" pitchFamily="34" charset="-122"/>
                <a:cs typeface="Times New Roman" pitchFamily="34" charset="-120"/>
              </a:rPr>
              <a:t>• Main prototype used an incomplete argument list (char* argv instead of char** argv).</a:t>
            </a:r>
            <a:endParaRPr lang="en-US" sz="1600" dirty="0"/>
          </a:p>
        </p:txBody>
      </p:sp>
      <p:sp>
        <p:nvSpPr>
          <p:cNvPr id="6" name="Text 4"/>
          <p:cNvSpPr/>
          <p:nvPr/>
        </p:nvSpPr>
        <p:spPr>
          <a:xfrm>
            <a:off x="365760" y="2522220"/>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Corrections Applied</a:t>
            </a:r>
            <a:endParaRPr lang="en-US" sz="1600" dirty="0"/>
          </a:p>
        </p:txBody>
      </p:sp>
      <p:sp>
        <p:nvSpPr>
          <p:cNvPr id="7" name="Text 5"/>
          <p:cNvSpPr/>
          <p:nvPr/>
        </p:nvSpPr>
        <p:spPr>
          <a:xfrm>
            <a:off x="365760" y="2843784"/>
            <a:ext cx="8229600" cy="1391412"/>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Replaced random-number calls with standard C library functions.</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Disabled verbose DEBUG printing by default.</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Added basic input validation for the number of trials.</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The corrected program produces clean, reproducible estimates.</a:t>
            </a:r>
            <a:endParaRPr lang="en-US" sz="1600" dirty="0"/>
          </a:p>
        </p:txBody>
      </p:sp>
      <p:sp>
        <p:nvSpPr>
          <p:cNvPr id="8" name="Text 6"/>
          <p:cNvSpPr/>
          <p:nvPr/>
        </p:nvSpPr>
        <p:spPr>
          <a:xfrm>
            <a:off x="274320" y="4576572"/>
            <a:ext cx="8412480" cy="45720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Further Improvements: use a higher-quality generator (e.g., Mersenne Twister), compute a confidence interval, or parallelise the sampling loop.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8. Single Server Queue (ssq1): Model Description</a:t>
            </a:r>
            <a:endParaRPr lang="en-US" sz="1600" dirty="0"/>
          </a:p>
        </p:txBody>
      </p:sp>
      <p:sp>
        <p:nvSpPr>
          <p:cNvPr id="4" name="Text 2"/>
          <p:cNvSpPr/>
          <p:nvPr/>
        </p:nvSpPr>
        <p:spPr>
          <a:xfrm>
            <a:off x="365760" y="731520"/>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System / Process Modelled</a:t>
            </a:r>
            <a:endParaRPr lang="en-US" sz="1600" dirty="0"/>
          </a:p>
        </p:txBody>
      </p:sp>
      <p:sp>
        <p:nvSpPr>
          <p:cNvPr id="5" name="Text 3"/>
          <p:cNvSpPr/>
          <p:nvPr/>
        </p:nvSpPr>
        <p:spPr>
          <a:xfrm>
            <a:off x="365760" y="1005840"/>
            <a:ext cx="8412480" cy="1456182"/>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The program simulates a single-server FIFO service node. Jobs arrive at recorded times, may wait in a queue if the server is busy, receive service, and then depart. The classic performance measures—average inter-arrival time, average service time, average delay in queue and average sojourn (wait) time—are computed.</a:t>
            </a:r>
            <a:endParaRPr lang="en-US" sz="1600" dirty="0"/>
          </a:p>
        </p:txBody>
      </p:sp>
      <p:sp>
        <p:nvSpPr>
          <p:cNvPr id="6" name="Text 4"/>
          <p:cNvSpPr/>
          <p:nvPr/>
        </p:nvSpPr>
        <p:spPr>
          <a:xfrm>
            <a:off x="365760" y="2702052"/>
            <a:ext cx="8229600" cy="274320"/>
          </a:xfrm>
          <a:prstGeom prst="rect">
            <a:avLst/>
          </a:prstGeom>
          <a:noFill/>
          <a:ln/>
        </p:spPr>
        <p:txBody>
          <a:bodyPr wrap="square" rtlCol="0" anchor="ctr"/>
          <a:lstStyle/>
          <a:p>
            <a:pPr marL="0" indent="0">
              <a:buNone/>
            </a:pPr>
            <a:r>
              <a:rPr lang="en-US" sz="1600" b="1" dirty="0">
                <a:solidFill>
                  <a:srgbClr val="1A237E"/>
                </a:solidFill>
                <a:latin typeface="Times New Roman" pitchFamily="34" charset="0"/>
                <a:ea typeface="Times New Roman" pitchFamily="34" charset="-122"/>
                <a:cs typeface="Times New Roman" pitchFamily="34" charset="-120"/>
              </a:rPr>
              <a:t>Key Components (from Leemis’ Discrete-Event Simulation textbook)</a:t>
            </a:r>
            <a:endParaRPr lang="en-US" sz="1600" dirty="0"/>
          </a:p>
        </p:txBody>
      </p:sp>
      <p:sp>
        <p:nvSpPr>
          <p:cNvPr id="7" name="Text 5"/>
          <p:cNvSpPr/>
          <p:nvPr/>
        </p:nvSpPr>
        <p:spPr>
          <a:xfrm>
            <a:off x="365760" y="3031236"/>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Inputs: trace file of (arrival time, service time) pairs (ssq1.dat)</a:t>
            </a:r>
            <a:endParaRPr lang="en-US" sz="1600" dirty="0"/>
          </a:p>
        </p:txBody>
      </p:sp>
      <p:sp>
        <p:nvSpPr>
          <p:cNvPr id="8" name="Text 6"/>
          <p:cNvSpPr/>
          <p:nvPr/>
        </p:nvSpPr>
        <p:spPr>
          <a:xfrm>
            <a:off x="365760" y="3570732"/>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State variables: current time of next departure, cumulative sums of delay / wait / service</a:t>
            </a:r>
            <a:endParaRPr lang="en-US" sz="1600" dirty="0"/>
          </a:p>
        </p:txBody>
      </p:sp>
      <p:sp>
        <p:nvSpPr>
          <p:cNvPr id="9" name="Text 7"/>
          <p:cNvSpPr/>
          <p:nvPr/>
        </p:nvSpPr>
        <p:spPr>
          <a:xfrm>
            <a:off x="365760" y="4027932"/>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Outputs: four average performance statistics for the completed jobs</a:t>
            </a:r>
            <a:endParaRPr lang="en-US" sz="1600" dirty="0"/>
          </a:p>
        </p:txBody>
      </p:sp>
      <p:sp>
        <p:nvSpPr>
          <p:cNvPr id="10" name="Text 8"/>
          <p:cNvSpPr/>
          <p:nvPr/>
        </p:nvSpPr>
        <p:spPr>
          <a:xfrm>
            <a:off x="365760" y="4594860"/>
            <a:ext cx="8229600" cy="347472"/>
          </a:xfrm>
          <a:prstGeom prst="rect">
            <a:avLst/>
          </a:prstGeom>
          <a:noFill/>
          <a:ln/>
        </p:spPr>
        <p:txBody>
          <a:bodyPr wrap="square" rtlCol="0" anchor="ctr"/>
          <a:lstStyle/>
          <a:p>
            <a:pPr marL="0" indent="0">
              <a:buNone/>
            </a:pPr>
            <a:r>
              <a:rPr lang="en-US" sz="1600" dirty="0">
                <a:solidFill>
                  <a:srgbClr val="212121"/>
                </a:solidFill>
                <a:latin typeface="Times New Roman" pitchFamily="34" charset="0"/>
                <a:ea typeface="Times New Roman" pitchFamily="34" charset="-122"/>
                <a:cs typeface="Times New Roman" pitchFamily="34" charset="-120"/>
              </a:rPr>
              <a:t>•  Assumptions: server starts idle; infinite queue capacity; FIFO discipline; all jobs are served to completion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9. SSQ: Type of Simulation and Experiments</a:t>
            </a:r>
            <a:endParaRPr lang="en-US" sz="1800" dirty="0"/>
          </a:p>
        </p:txBody>
      </p:sp>
      <p:sp>
        <p:nvSpPr>
          <p:cNvPr id="4" name="Text 2"/>
          <p:cNvSpPr/>
          <p:nvPr/>
        </p:nvSpPr>
        <p:spPr>
          <a:xfrm>
            <a:off x="365760" y="731520"/>
            <a:ext cx="8412480" cy="395478"/>
          </a:xfrm>
          <a:prstGeom prst="rect">
            <a:avLst/>
          </a:prstGeom>
          <a:noFill/>
          <a:ln/>
        </p:spPr>
        <p:txBody>
          <a:bodyPr wrap="square" rtlCol="0" anchor="ctr"/>
          <a:lstStyle/>
          <a:p>
            <a:pPr marL="0" indent="0">
              <a:buNone/>
            </a:pPr>
            <a:r>
              <a:rPr lang="en-US" b="1" dirty="0">
                <a:solidFill>
                  <a:srgbClr val="1A237E"/>
                </a:solidFill>
                <a:latin typeface="Times New Roman" pitchFamily="34" charset="0"/>
                <a:ea typeface="Times New Roman" pitchFamily="34" charset="-122"/>
                <a:cs typeface="Times New Roman" pitchFamily="34" charset="-120"/>
              </a:rPr>
              <a:t>Classification: Trace-driven discrete-event simulation</a:t>
            </a:r>
            <a:endParaRPr lang="en-US" dirty="0"/>
          </a:p>
        </p:txBody>
      </p:sp>
      <p:sp>
        <p:nvSpPr>
          <p:cNvPr id="5" name="Text 3"/>
          <p:cNvSpPr/>
          <p:nvPr/>
        </p:nvSpPr>
        <p:spPr>
          <a:xfrm>
            <a:off x="274320" y="1051561"/>
            <a:ext cx="8412480" cy="138303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Justification: The simulation advances from one event (arrival or implied departure) to the next. The input data are historical observations rather than random variates generated inside the program. This is the classic “ssq1” example used in teaching discrete-event simulation.</a:t>
            </a:r>
            <a:endParaRPr lang="en-US" sz="1600" dirty="0"/>
          </a:p>
        </p:txBody>
      </p:sp>
      <p:sp>
        <p:nvSpPr>
          <p:cNvPr id="6" name="Text 4"/>
          <p:cNvSpPr/>
          <p:nvPr/>
        </p:nvSpPr>
        <p:spPr>
          <a:xfrm>
            <a:off x="1363980" y="2674620"/>
            <a:ext cx="4480560" cy="327660"/>
          </a:xfrm>
          <a:prstGeom prst="rect">
            <a:avLst/>
          </a:prstGeom>
          <a:noFill/>
          <a:ln/>
        </p:spPr>
        <p:txBody>
          <a:bodyPr wrap="square" rtlCol="0" anchor="ctr"/>
          <a:lstStyle/>
          <a:p>
            <a:pPr marL="0" indent="0">
              <a:buNone/>
            </a:pPr>
            <a:r>
              <a:rPr lang="en-US" sz="1300" b="1" dirty="0">
                <a:solidFill>
                  <a:srgbClr val="1A237E"/>
                </a:solidFill>
                <a:latin typeface="Times New Roman" pitchFamily="34" charset="0"/>
                <a:ea typeface="Times New Roman" pitchFamily="34" charset="-122"/>
                <a:cs typeface="Times New Roman" pitchFamily="34" charset="-120"/>
              </a:rPr>
              <a:t>Baseline Results (999–1000 jobs from ssq1.dat)</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4140456273"/>
              </p:ext>
            </p:extLst>
          </p:nvPr>
        </p:nvGraphicFramePr>
        <p:xfrm>
          <a:off x="533400" y="3086101"/>
          <a:ext cx="4480560" cy="1828800"/>
        </p:xfrm>
        <a:graphic>
          <a:graphicData uri="http://schemas.openxmlformats.org/drawingml/2006/table">
            <a:tbl>
              <a:tblPr/>
              <a:tblGrid>
                <a:gridCol w="2613660">
                  <a:extLst>
                    <a:ext uri="{9D8B030D-6E8A-4147-A177-3AD203B41FA5}">
                      <a16:colId xmlns:a16="http://schemas.microsoft.com/office/drawing/2014/main" val="20000"/>
                    </a:ext>
                  </a:extLst>
                </a:gridCol>
                <a:gridCol w="1866900">
                  <a:extLst>
                    <a:ext uri="{9D8B030D-6E8A-4147-A177-3AD203B41FA5}">
                      <a16:colId xmlns:a16="http://schemas.microsoft.com/office/drawing/2014/main" val="20001"/>
                    </a:ext>
                  </a:extLst>
                </a:gridCol>
              </a:tblGrid>
              <a:tr h="365760">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Statistic</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solidFill>
                      <a:srgbClr val="1A237E"/>
                    </a:solidFill>
                  </a:tcPr>
                </a:tc>
                <a:tc>
                  <a:txBody>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Value</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solidFill>
                      <a:srgbClr val="1A237E"/>
                    </a:solidFill>
                  </a:tcPr>
                </a:tc>
                <a:extLst>
                  <a:ext uri="{0D108BD9-81ED-4DB2-BD59-A6C34878D82A}">
                    <a16:rowId xmlns:a16="http://schemas.microsoft.com/office/drawing/2014/main" val="10000"/>
                  </a:ext>
                </a:extLst>
              </a:tr>
              <a:tr h="365760">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Average inter-arrival time</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9.87</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Average service time</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7.12</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Average delay in queue</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18.59</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Average wait (sojourn) time</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tc>
                  <a:txBody>
                    <a:bodyPr/>
                    <a:lstStyle/>
                    <a:p>
                      <a:pPr marL="0" indent="0" algn="ctr">
                        <a:buNone/>
                      </a:pPr>
                      <a:r>
                        <a:rPr lang="en-US" sz="1300" dirty="0">
                          <a:solidFill>
                            <a:srgbClr val="212121"/>
                          </a:solidFill>
                          <a:latin typeface="Times New Roman" pitchFamily="34" charset="0"/>
                          <a:ea typeface="Times New Roman" pitchFamily="34" charset="-122"/>
                          <a:cs typeface="Times New Roman" pitchFamily="34" charset="-120"/>
                        </a:rPr>
                        <a:t>25.72</a:t>
                      </a:r>
                      <a:endParaRPr lang="en-US" sz="1300" dirty="0">
                        <a:latin typeface="Times New Roman" charset="0"/>
                        <a:ea typeface="Times New Roman" charset="0"/>
                        <a:cs typeface="Times New Roman" charset="0"/>
                      </a:endParaRPr>
                    </a:p>
                  </a:txBody>
                  <a:tcPr>
                    <a:lnL w="6350" cap="flat" cmpd="sng" algn="ctr">
                      <a:solidFill>
                        <a:srgbClr val="757575"/>
                      </a:solidFill>
                      <a:prstDash val="solid"/>
                      <a:round/>
                      <a:headEnd type="none" w="med" len="med"/>
                      <a:tailEnd type="none" w="med" len="med"/>
                    </a:lnL>
                    <a:lnR w="6350" cap="flat" cmpd="sng" algn="ctr">
                      <a:solidFill>
                        <a:srgbClr val="757575"/>
                      </a:solidFill>
                      <a:prstDash val="solid"/>
                      <a:round/>
                      <a:headEnd type="none" w="med" len="med"/>
                      <a:tailEnd type="none" w="med" len="med"/>
                    </a:lnR>
                    <a:lnT w="6350" cap="flat" cmpd="sng" algn="ctr">
                      <a:solidFill>
                        <a:srgbClr val="757575"/>
                      </a:solidFill>
                      <a:prstDash val="solid"/>
                      <a:round/>
                      <a:headEnd type="none" w="med" len="med"/>
                      <a:tailEnd type="none" w="med" len="med"/>
                    </a:lnT>
                    <a:lnB w="6350" cap="flat" cmpd="sng" algn="ctr">
                      <a:solidFill>
                        <a:srgbClr val="75757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7" name="Picture 6">
            <a:extLst>
              <a:ext uri="{FF2B5EF4-FFF2-40B4-BE49-F238E27FC236}">
                <a16:creationId xmlns:a16="http://schemas.microsoft.com/office/drawing/2014/main" id="{611CC85E-BB05-9BDE-2046-34C1089E7BA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0" y="2476502"/>
            <a:ext cx="3688080" cy="255727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lnSpc>
                <a:spcPct val="150000"/>
              </a:lnSpc>
              <a:buNone/>
            </a:pPr>
            <a:r>
              <a:rPr lang="en-US" sz="1600" b="1" dirty="0">
                <a:solidFill>
                  <a:srgbClr val="FFFFFF"/>
                </a:solidFill>
                <a:latin typeface="Times New Roman" pitchFamily="34" charset="0"/>
                <a:ea typeface="Times New Roman" pitchFamily="34" charset="-122"/>
                <a:cs typeface="Times New Roman" pitchFamily="34" charset="-120"/>
              </a:rPr>
              <a:t>10. SSQ: Evaluation, Debugging and Improvements</a:t>
            </a:r>
            <a:endParaRPr lang="en-US" sz="1600" dirty="0"/>
          </a:p>
        </p:txBody>
      </p:sp>
      <p:sp>
        <p:nvSpPr>
          <p:cNvPr id="4" name="Text 2"/>
          <p:cNvSpPr/>
          <p:nvPr/>
        </p:nvSpPr>
        <p:spPr>
          <a:xfrm>
            <a:off x="365760" y="731520"/>
            <a:ext cx="8229600" cy="27432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Original Code Issues</a:t>
            </a:r>
            <a:endParaRPr lang="en-US" sz="1600" dirty="0"/>
          </a:p>
        </p:txBody>
      </p:sp>
      <p:sp>
        <p:nvSpPr>
          <p:cNvPr id="5" name="Text 3"/>
          <p:cNvSpPr/>
          <p:nvPr/>
        </p:nvSpPr>
        <p:spPr>
          <a:xfrm>
            <a:off x="457200" y="1276350"/>
            <a:ext cx="8229600" cy="82296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Classic while (!feof(fp)) loop processes one extra (invalid) record after end-of-file.</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Structure initialiser provided only three zeros for a four-field aggregate.</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No check of the return value of fscanf, so a truncated final line could corrupt results.</a:t>
            </a:r>
            <a:endParaRPr lang="en-US" sz="1600" dirty="0"/>
          </a:p>
        </p:txBody>
      </p:sp>
      <p:sp>
        <p:nvSpPr>
          <p:cNvPr id="6" name="Text 4"/>
          <p:cNvSpPr/>
          <p:nvPr/>
        </p:nvSpPr>
        <p:spPr>
          <a:xfrm>
            <a:off x="365760" y="2308860"/>
            <a:ext cx="8229600" cy="274320"/>
          </a:xfrm>
          <a:prstGeom prst="rect">
            <a:avLst/>
          </a:prstGeom>
          <a:noFill/>
          <a:ln/>
        </p:spPr>
        <p:txBody>
          <a:bodyPr wrap="square" rtlCol="0" anchor="ctr"/>
          <a:lstStyle/>
          <a:p>
            <a:pPr marL="0" indent="0">
              <a:lnSpc>
                <a:spcPct val="150000"/>
              </a:lnSpc>
              <a:buNone/>
            </a:pPr>
            <a:r>
              <a:rPr lang="en-US" sz="1600" b="1" dirty="0">
                <a:solidFill>
                  <a:srgbClr val="1A237E"/>
                </a:solidFill>
                <a:latin typeface="Times New Roman" pitchFamily="34" charset="0"/>
                <a:ea typeface="Times New Roman" pitchFamily="34" charset="-122"/>
                <a:cs typeface="Times New Roman" pitchFamily="34" charset="-120"/>
              </a:rPr>
              <a:t>Corrections Applied</a:t>
            </a:r>
            <a:endParaRPr lang="en-US" sz="1600" dirty="0"/>
          </a:p>
        </p:txBody>
      </p:sp>
      <p:sp>
        <p:nvSpPr>
          <p:cNvPr id="7" name="Text 5"/>
          <p:cNvSpPr/>
          <p:nvPr/>
        </p:nvSpPr>
        <p:spPr>
          <a:xfrm>
            <a:off x="457200" y="3002280"/>
            <a:ext cx="8229600" cy="82296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Replaced the feof test with an explicit check of fscanf success.</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Completed the structure initialiser and introduced a last_arrival variable to compute the correct inter-arrival average.</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 The corrected program reports consistent statistics for the supplied data file.</a:t>
            </a:r>
            <a:endParaRPr lang="en-US" sz="1600" dirty="0"/>
          </a:p>
        </p:txBody>
      </p:sp>
      <p:sp>
        <p:nvSpPr>
          <p:cNvPr id="8" name="Text 6"/>
          <p:cNvSpPr/>
          <p:nvPr/>
        </p:nvSpPr>
        <p:spPr>
          <a:xfrm>
            <a:off x="457200" y="4335780"/>
            <a:ext cx="8412480" cy="54864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Suggested Extensions: generate random inter-arrival and service times (M/M/1), add multiple servers, compute confidence intervals, or collect time-average queue-length statistics.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A237E"/>
          </a:solidFill>
          <a:ln/>
        </p:spPr>
      </p:sp>
      <p:sp>
        <p:nvSpPr>
          <p:cNvPr id="3" name="Text 1"/>
          <p:cNvSpPr/>
          <p:nvPr/>
        </p:nvSpPr>
        <p:spPr>
          <a:xfrm>
            <a:off x="274320" y="109728"/>
            <a:ext cx="8595360" cy="36576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11. Conclusions and References</a:t>
            </a:r>
            <a:endParaRPr lang="en-US" sz="1800" dirty="0"/>
          </a:p>
        </p:txBody>
      </p:sp>
      <p:sp>
        <p:nvSpPr>
          <p:cNvPr id="4" name="Text 2"/>
          <p:cNvSpPr/>
          <p:nvPr/>
        </p:nvSpPr>
        <p:spPr>
          <a:xfrm>
            <a:off x="365760" y="620268"/>
            <a:ext cx="8229600" cy="274320"/>
          </a:xfrm>
          <a:prstGeom prst="rect">
            <a:avLst/>
          </a:prstGeom>
          <a:noFill/>
          <a:ln/>
        </p:spPr>
        <p:txBody>
          <a:bodyPr wrap="square" rtlCol="0" anchor="ctr"/>
          <a:lstStyle/>
          <a:p>
            <a:pPr marL="0" indent="0">
              <a:buNone/>
            </a:pPr>
            <a:r>
              <a:rPr lang="en-US" sz="1400" b="1" dirty="0">
                <a:solidFill>
                  <a:srgbClr val="1A237E"/>
                </a:solidFill>
                <a:latin typeface="Times New Roman" pitchFamily="34" charset="0"/>
                <a:ea typeface="Times New Roman" pitchFamily="34" charset="-122"/>
                <a:cs typeface="Times New Roman" pitchFamily="34" charset="-120"/>
              </a:rPr>
              <a:t>Summary of Findings</a:t>
            </a:r>
            <a:endParaRPr lang="en-US" sz="1400" dirty="0"/>
          </a:p>
        </p:txBody>
      </p:sp>
      <p:sp>
        <p:nvSpPr>
          <p:cNvPr id="5" name="Text 3"/>
          <p:cNvSpPr/>
          <p:nvPr/>
        </p:nvSpPr>
        <p:spPr>
          <a:xfrm>
            <a:off x="365760" y="658368"/>
            <a:ext cx="8412480" cy="2328672"/>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The three programs illustrate complementary styles of simulation: deterministic time-stepped (mortgage), pure Monte Carlo (π), and trace-driven discrete-event (single-server queue). Each model required modest debugging before reliable results could be obtained. Scenario experiments confirmed that parameter changes produce the expected qualitative behaviour, reinforcing the teaching goals of the assignment.</a:t>
            </a:r>
            <a:endParaRPr lang="en-US" sz="1600" dirty="0"/>
          </a:p>
        </p:txBody>
      </p:sp>
      <p:sp>
        <p:nvSpPr>
          <p:cNvPr id="6" name="Text 4"/>
          <p:cNvSpPr/>
          <p:nvPr/>
        </p:nvSpPr>
        <p:spPr>
          <a:xfrm>
            <a:off x="548640" y="2811781"/>
            <a:ext cx="8229600" cy="274320"/>
          </a:xfrm>
          <a:prstGeom prst="rect">
            <a:avLst/>
          </a:prstGeom>
          <a:noFill/>
          <a:ln/>
        </p:spPr>
        <p:txBody>
          <a:bodyPr wrap="square" rtlCol="0" anchor="ctr"/>
          <a:lstStyle/>
          <a:p>
            <a:pPr marL="0" indent="0">
              <a:buNone/>
            </a:pPr>
            <a:r>
              <a:rPr lang="en-US" sz="1300" b="1" dirty="0">
                <a:solidFill>
                  <a:srgbClr val="1A237E"/>
                </a:solidFill>
                <a:latin typeface="Times New Roman" pitchFamily="34" charset="0"/>
                <a:ea typeface="Times New Roman" pitchFamily="34" charset="-122"/>
                <a:cs typeface="Times New Roman" pitchFamily="34" charset="-120"/>
              </a:rPr>
              <a:t>References</a:t>
            </a:r>
            <a:endParaRPr lang="en-US" sz="1300" dirty="0"/>
          </a:p>
        </p:txBody>
      </p:sp>
      <p:sp>
        <p:nvSpPr>
          <p:cNvPr id="7" name="Text 5"/>
          <p:cNvSpPr/>
          <p:nvPr/>
        </p:nvSpPr>
        <p:spPr>
          <a:xfrm>
            <a:off x="365760" y="3124200"/>
            <a:ext cx="8412480" cy="1371600"/>
          </a:xfrm>
          <a:prstGeom prst="rect">
            <a:avLst/>
          </a:prstGeom>
          <a:noFill/>
          <a:ln/>
        </p:spPr>
        <p:txBody>
          <a:bodyPr wrap="square" rtlCol="0" anchor="ctr"/>
          <a:lstStyle/>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[1] L. M. Leemis and S. K. Park, Discrete-Event Simulation: A First Course. Pearson, 2006.</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[2] A. M. Law, Simulation Modeling and Analysis, 5th ed. McGraw-Hill, 2015.</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[3] S. Ross, Simulation, 5th ed. Academic Press, 2013.</a:t>
            </a:r>
            <a:endParaRPr lang="en-US" sz="1600" dirty="0"/>
          </a:p>
          <a:p>
            <a:pPr marL="0" indent="0">
              <a:lnSpc>
                <a:spcPct val="150000"/>
              </a:lnSpc>
              <a:buNone/>
            </a:pPr>
            <a:r>
              <a:rPr lang="en-US" sz="1600" dirty="0">
                <a:solidFill>
                  <a:srgbClr val="212121"/>
                </a:solidFill>
                <a:latin typeface="Times New Roman" pitchFamily="34" charset="0"/>
                <a:ea typeface="Times New Roman" pitchFamily="34" charset="-122"/>
                <a:cs typeface="Times New Roman" pitchFamily="34" charset="-120"/>
              </a:rPr>
              <a:t>[4] “Estimating the value of Pi using Monte Carlo,” GeeksforGeeks, 2017.</a:t>
            </a:r>
            <a:endParaRPr lang="en-US" sz="1600" dirty="0"/>
          </a:p>
        </p:txBody>
      </p:sp>
      <p:sp>
        <p:nvSpPr>
          <p:cNvPr id="8" name="Text 6"/>
          <p:cNvSpPr/>
          <p:nvPr/>
        </p:nvSpPr>
        <p:spPr>
          <a:xfrm>
            <a:off x="365760" y="4706112"/>
            <a:ext cx="8412480" cy="320040"/>
          </a:xfrm>
          <a:prstGeom prst="rect">
            <a:avLst/>
          </a:prstGeom>
          <a:noFill/>
          <a:ln/>
        </p:spPr>
        <p:txBody>
          <a:bodyPr wrap="square" rtlCol="0" anchor="ctr"/>
          <a:lstStyle/>
          <a:p>
            <a:pPr marL="0" indent="0" algn="ctr">
              <a:buNone/>
            </a:pPr>
            <a:r>
              <a:rPr lang="en-US" sz="1400" b="1" dirty="0">
                <a:solidFill>
                  <a:srgbClr val="0D47A1"/>
                </a:solidFill>
                <a:latin typeface="Times New Roman" pitchFamily="34" charset="0"/>
                <a:ea typeface="Times New Roman" pitchFamily="34" charset="-122"/>
                <a:cs typeface="Times New Roman" pitchFamily="34" charset="-120"/>
              </a:rPr>
              <a:t>Thank you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1519</Words>
  <Application>Microsoft Office PowerPoint</Application>
  <PresentationFormat>On-screen Show (16:9)</PresentationFormat>
  <Paragraphs>145</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Coding Assignment One - Modeling and Simulation</dc:title>
  <dc:subject>Analysis of Mortgage, Pi Monte Carlo and Single Server Queue Simulations</dc:subject>
  <dc:creator>AINEBYONA ALLAN</dc:creator>
  <cp:lastModifiedBy>Ainebyona Allan</cp:lastModifiedBy>
  <cp:revision>2</cp:revision>
  <dcterms:created xsi:type="dcterms:W3CDTF">2026-10-07T14:42:39Z</dcterms:created>
  <dcterms:modified xsi:type="dcterms:W3CDTF">2026-10-07T18:19:13Z</dcterms:modified>
</cp:coreProperties>
</file>